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กราบเรียนท่านคณะกรรมการทุกท่าน วันนี้กลุ่มของพวกเราขอรายงานความก้าวหน้าโครงงานพิเศษ 'ระบบบริหารจัดการแข่งขันคณิตศาสตร์โอลิมปิกระดับชาติผ่านเว็บแอปพลิเคชัน' ซึ่งพัฒนาขึ้นเพื่อแก้ปัญหาและยกระดับกระบวนการตรวจข้อสอบและจัดการคิวของ TMO สู่ระบบดิจิทัลที่ปลอดภัย โปร่งใส และถูกต้องตามกฎหมายครับ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การแข่งขัน TMO จัดขึ้นต่อเนื่องมาตั้งแต่ปี 2547 เป็นเวทีคัดเลือกผู้แทนประเทศไทยสู่ IMO มีความสำคัญระดับชาติ ทำให้กระบวนการตรวจข้อสอบต้องมีความแม่นยำ โปร่งใส และรักษาความลับสูงสุดครับ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ในกระบวนการเดิม ปัญหาหลักมี 4 ด้าน คือ Human Error ในการรวมคะแนน, ปัญหาคอขวดการหมุนเวียนคิว 16 ศูนย์ x 5 ข้อ, ความเสี่ยงที่คะแนนจะรั่วไหลจากการแอบถ่าย, และการขาดระบบ Audit Trail บันทึกการแก้ไขคะแนนย้อนหลังครับ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ในบทที่ 2 เราได้ศึกษางานวิจัยสำคัญ 5 ฉบับ ทั้งด้านระบบคิว Web Browser ของณัฐพล, การลดความแออัดของปวีณา, การแบ่งสิทธิ์ RBAC ของสุพิพัฒน์, การใช้ QR Code เรียลไทม์ของสุดถนอม, และการประยุกต์ใช้ลายเซ็นดิจิทัลของกาญจนาและศิริพร มาบูรณาการเข้าด้วยกันครับ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การสร้างเอกสารรับรองคะแนนจำเป็นต้องมีผลทางกฎหมาย ระบบจึงออกแบบตาม พ.ร.บ.ธุรกรรมทางอิเล็กทรอนิกส์ พ.ศ. 2544 ครบทั้ง 4 องค์ประกอบ คือ Digital Identity, Intent to sign, Data Integrity และ Timestamp 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เราใช้กรอบการดำเนินงาน SDLC 7 ขั้นตอนของธิตินนท์และณัฐกร โดยเริ่มต้นวิเคราะห์ปัญหาด้วย SWOT ในเล่มวิจัย ทำให้เห็นจุดแข็งด้านขอบเขตที่ชัดเจน 16 ทีม 5 ข้อ และวางแผนรับมือกับข้อจำกัดเรื่องเวลาจริงของการแข่งขันครับ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ระบบจำกัดสิทธิ์ผู้ใช้เป็น 4 บทบาทตามหลัก RBAC โดยแยกหน้าที่อย่างเด็ดขาดเพื่อป้องกันผลประโยชน์ทับซ้อน กรรมการตรวจจะเห็นเฉพาะข้อที่ตนรับผิดชอบ หัวหน้าทีมจะเห็นเฉพาะศูนย์ตนเอง และบุคคลทั่วไปดูได้เฉพาะบอร์ดคิวสาธารณะครับ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ในภาพที่ 3-59 แสดง Dialog Diagram ผังการเชื่อมโยงหน้าจอ ซึ่งชี้ให้เห็นว่าระบบมี Flow การทำงานที่กระชับ จากหน้าจอลงชื่อเข้าใช้สู่ Dashboard และแยกเป็นโมดูลย่อย โดยมีจุดตัดที่สำคัญคือ Score entry (3) ต้องวิ่งผ่าน Approval (8) ก่อนจะออกเป็นเอกสาร PDF (9) เสมอครับ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สถาปัตยกรรมของ TMO ออกแบบตามหลัก 3-Tier Architecture แยกส่วนหน้าบ้าน Next.js/React และหลังบ้าน NestJS/Node.js สื่อสารผ่าน RESTful API โดยมีโมดูล PDFKit และ ExcelJS ในการออกเอกสารทางการ และเชื่อมต่อกับ Microsoft SQL Server 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ในส่วนของ Real-time ระบบเลือกใช้ Server-Sent Events (SSE) แทน WebSockets เนื่องจากโจทย์ของเราคือการกระจายสถานะคิวจากเซิร์ฟเวอร์ไปยังหน้าจอแสดงผล SSE มีความเสถียรสูงกว่า ต่อสัญญาณใหม่อัตโนมัติเมื่อหลุด และประหยัดทรัพยากรเซิร์ฟเวอร์ได้ดีกว่ามากครับ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ในหน้าจอนี้แสดงระบบล็อกอิน 2FA โดยผู้ใช้งานกรอกเบอร์โทรศัพท์ ระบบจะตรวจสอบกับ Whitelist และส่งรหัส OTP 6 หลัก เมื่อยืนยันถูกต้องจะสร้าง JWT Token และพาเข้าสู่หน้าจอเฉพาะของบทบาทนั้นทันทีครับ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หัวใจสำคัญของการแก้ปัญหาคอขวดคือ Queue Matrix Engine ในหน้าจอนี้แอดมินสามารถกำหนดตารางตรวจหมุนเวียนรอบละ 15 นาที โดยระบบจะคำนวณและกระจายคิวของ 16 ศูนย์ลง 5 ข้อโดยไม่มีคิวชนกัน และสามารถกดรับตรวจหรือเลื่อนคิวได้ทันทีครับ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ในสไลด์นี้ ด้านซ้ายคือตารางคิวรวมจริงจากเล่มวิจัยที่แสดงสถานะของทั้ง 16 ศูนย์สอบพร้อมโลโก้ของศูนย์ สอวน. แต่ละแห่ง ด้านขวาคือหน้าจอ High-contrast Display สำหรับฉายขึ้นโปรเจกเตอร์ในห้องแข่งขันและเปิดให้นักเรียนสแกน QR Code ติดตามคิวสดได้จากมือถือครับ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ในหน้าจอกรรมการตรวจข้อสอบ เราได้ใส่ฟีเจอร์ความปลอดภัยขั้นสูงคือ Dynamic Tiled Watermark ซึ่งจะสลักชื่อกรรมการ รหัสศูนย์ และวันเวลาปัจจุบันทับซ้อนอยู่บนหน้าจอ หากมีใครพยายามแอบถ่ายหน้าจอ จะสามารถสืบหาตัวผู้กระทำได้อย่างชัดเจนครับ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เมื่อกรรมการส่งคะแนนแล้ว อาจารย์ผู้ควบคุมทีมจะเห็นหน้าจอนี้เพื่อตรวจทาน และเมื่อกด 'อนุมัติและลงนาม' ระบบจะนำลายเซ็นดิจิทัลของทั้งสองฝ่ายมาประทับลงในเอกสาร PDF อัตโนมัติด้วย PDFKit พร้อมประทับ Timestamp ทางการทันทีครับ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ในกรณีที่เกิดข้อผิดพลาดในการรวมคะแนน ระบบรองรับกระบวนการขอแก้ไขคะแนนอย่างรัดกุม โดยจะบันทึกทั้งคะแนนเดิม คะแนนใหม่ และเหตุผล และต้องให้อาจารย์ผู้ควบคุมทีมกดอนุมัติซ้ำ จึงจะสร้างเอกสาร PDF ฉบับใหม่แทนที่ฉบับเดิมครับ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เพื่อความโปร่งใสสูงสุด ระบบได้ออกแบบตาราง AuditLog สำหรับบันทึกทุกการกระทำในระบบ ไม่ว่าจะเป็นการกรอกคะแนน การแก้ไข หรือการเปลี่ยนสถานะคิว โดยเก็บบันทึกทั้งค่าเดิมและค่าใหม่ และไม่สามารถลบหรือแก้ไขย้อนหลังได้ครับ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ในหน้าจอ Admin ฝั่งซ้ายคือระบบจัดการสิทธิ์ผู้ใช้งานและอัปโหลดลายเซ็นดิจิทัลเฉพาะตัว และฝั่งขวาคือหน้าจอจัดการข้อมูลศูนย์ สอวน. ทั้ง 16 แห่งทั่วประเทศ พร้อมระบบรหัสโรงเรียนสำหรับใช้ในการจับคู่คิวอัตโนมัติครับ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ภาพนี้คือ Conceptual ER Diagram แบบ Chen Model จากเล่มวิจัย แสดงความสัมพันธ์ระหว่าง Entity หลัก เช่น School, User, QueueItem และ Student โดยมีตาราง Score และ ScoreEditRequest เป็น Weak Entity ที่เชื่อมโยงความสัมพันธ์ 1 ต่อกลุ่มอย่างรัดกุมครับ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ในระดับกายภาพ เราออกแบบฐานข้อมูลเชิงสัมพันธ์บน Microsoft SQL Server ตามหลัก 3NF ประกอบด้วย 9 ตารางหลัก โดยแยกตาราง Score ออกจาก QueueItem และ Student อย่างเป็นอิสระ พร้อมตาราง CompetitionSettings สำหรับล็อกระบบเมื่อสิ้นสุดการแข่งขันครับ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การทดสอบระบบดำเนินการครบทั้ง 3 ระดับตามระเบียบวิธีวิจัย ตั้งแต่ระดับโมดูลด้วย Unit Test กว่า 400 เคส, ระดับคอมโพเนนต์ตรวจสอบการรับส่งข้อมูลผ่าน SSE และ API, ไปจนถึงการทดสอบ Exception กรณีข้ามสิทธิ์หรือคะแนนหลุดเกณฑ์ เพื่อให้มั่นใจว่าระบบพร้อมใช้งานจริง 100% 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กลุ่มของพวกเราขอขอบพระคุณท่านคณะกรรมการทุกท่านเป็นอย่างสูงครับ ขณะนี้เปิดรับข้อเสนอแนะและพร้อมตอบทุกข้อซักถามจากท่านคณะกรรมการครับ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94360"/>
            <a:ext cx="3291840" cy="320040"/>
          </a:xfrm>
          <a:prstGeom prst="roundRect">
            <a:avLst>
              <a:gd name="adj" fmla="val 22857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943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โครงงานพิเศษปริญญานิพนธ์ ปีการศึกษา 2569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6809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ระบบบริหารจัดการแข่งขันคณิตศาสตร์โอลิมปิกระดับชาติ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ผ่านเว็บแอปพลิเคชัน (TMO Management System)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2402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Thailand Mathematical Olympiad (TMO) Management System Using Web Application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768096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83464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คณะผู้จัดทำ: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นาย ทินณภัทร ปั้นคง (รหัสนักศึกษา 64-040626-3603-4)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นาย วสุศิลป์ ลี้นิธิเจริญกิจ (รหัสนักศึกษา 64-040626-3627-1)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• นางสาว อิสริยาภรณ์ มงคลิก (รหัสนักศึกษา 64-040626-3635-2)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937760" y="283464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อาจารย์ที่ปรึกษาโครงงาน:</a:t>
            </a:r>
            <a:endParaRPr lang="en-US" sz="9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• อาจารย์ ดร.ชัยยศ กำธรเจริญ</a:t>
            </a:r>
            <a:endParaRPr lang="en-US" sz="950" dirty="0"/>
          </a:p>
          <a:p>
            <a:pPr indent="0" marL="0">
              <a:lnSpc>
                <a:spcPts val="1700"/>
              </a:lnSpc>
              <a:buNone/>
            </a:pPr>
            <a:endParaRPr lang="en-US" sz="9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สาขาวิชาคณิตศาสตร์เชิงวิทยาการคอมพิวเตอร์ ภาควิชาคณิตศาสตร์</a:t>
            </a:r>
            <a:endParaRPr lang="en-US" sz="9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950" dirty="0">
                <a:solidFill>
                  <a:srgbClr val="CBD5E1"/>
                </a:solidFill>
              </a:rPr>
              <a:t>คณะวิทยาศาสตร์ประยุกต์ มหาวิทยาลัยเทคโนโลยีพระจอมเกล้าพระนครเหนือ</a:t>
            </a:r>
            <a:endParaRPr lang="en-US" sz="950" dirty="0"/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28600"/>
            <a:ext cx="2560320" cy="256032"/>
          </a:xfrm>
          <a:prstGeom prst="roundRect">
            <a:avLst>
              <a:gd name="adj" fmla="val 2142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1. BACKGROUND &amp; ORIGIN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ความเป็นมาและความสำคัญของการแข่งขันคณิตศาสตร์โอลิมปิกระดับชาติ (TMO)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บริบทการแข่งขันโอลิมปิกวิชาการของมูลนิธิ สอวน. เพื่อคัดเลือกตัวแทนประเทศไทยสู่ระดับนานาชาติ (IMO)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80467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188720"/>
            <a:ext cx="91440" cy="10058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29844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</a:rPr>
              <a:t>จุดเริ่มต้นการแข่งขัน (TMO)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1627632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เริ่มต้นแข่งขันครั้งแรกในปี พ.ศ. 2547 ณ คณะวิทยาศาสตร์ มหาวิทยาลัยขอนแก่น เพื่อวัดศักยภาพผู้แทนนักเรียนจาก 16 ศูนย์ สอวน. ทั่วประเทศ (Chula tutor, 2563)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2331720"/>
            <a:ext cx="80467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331720"/>
            <a:ext cx="91440" cy="10058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44144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</a:rPr>
              <a:t>มาตรฐานระดับสากล (IMO Benchmark)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2770632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รูปแบบข้อสอบและเกณฑ์การให้คะแนนสอดคล้องกับการแข่งขันคณิตศาสตร์โอลิมปิกระหว่างประเทศ (International Mathematical Olympiad: IMO) แต่ละข้อมีน้ำหนักคะแนน 0-7 คะแนน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80467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474720"/>
            <a:ext cx="91440" cy="10058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58444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</a:rPr>
              <a:t>ความซับซ้อนของผู้เกี่ยวข้อง (Stakeholders)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913632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มีผู้เข้าร่วมหลากหลายบทบาท ทั้งกรรมการตรวจข้อสอบ (Examiner) จากมหาวิทยาลัยชั้นนำ, อาจารย์ผู้ควบคุมทีม (Team Leader) 16 ศูนย์, เจ้าหน้าที่ (Staff) และนักเรียนตัวแทนศูนย์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28600"/>
            <a:ext cx="2560320" cy="256032"/>
          </a:xfrm>
          <a:prstGeom prst="roundRect">
            <a:avLst>
              <a:gd name="adj" fmla="val 2142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2. PROBLEM STATEMENT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ปัญหาของกระบวนการตรวจข้อสอบแบบดั้งเดิม (Paper-Based Grading)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ความเสี่ยงและอุปสรรคสำคัญที่เกิดขึ้นจากการจัดการตรวจข้อสอบแบบกระดาษในอดีต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234440"/>
            <a:ext cx="3931920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371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</a:rPr>
              <a:t>ความผิดพลาดจากการกรอกคะแนน (Human Error)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1709928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การรวมคะแนนแบบกระดาษและการคีย์ซ้ำลงตารางสรุปเสี่ยงต่อตัวเลขคลาดเคลื่อน ขาดระบบ Double-check อัตโนมัติ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234440"/>
            <a:ext cx="3931920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371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</a:rPr>
              <a:t>คอขวดการหมุนเวียนคิว (Queue Bottleneck)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46320" y="1709928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กรรมการ 5 ท่านต้องตรวจข้อสอบของนักเรียนจาก 16 ศูนย์ เกิดความสับสนของลำดับคิวและเวลาว่างที่ไม่สัมพันธ์กัน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297180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971800"/>
            <a:ext cx="3931920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1089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</a:rPr>
              <a:t>ความเสี่ยงข้อมูลรั่วไหล (Data Security Risk)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31520" y="3447288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คะแนนสอบอาจถูกบุคคลที่สามแอบถ่ายภาพหน้าจอหรือเอกสารหลุดออกไปก่อนการประกาศผลอย่างเป็นทางการ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971800"/>
            <a:ext cx="3931920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1089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</a:rPr>
              <a:t>ขาดประวัติการตรวจสอบย้อนกลับ (No Audit Trail)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46320" y="3447288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เมื่อมีการแก้ไขคะแนน ไม่มีระบบบันทึกว่าใครแก้ไข เมื่อใด และด้วยเหตุผลใด ทำให้เกิดข้อครหาด้านความโปร่งใส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28600"/>
            <a:ext cx="2560320" cy="256032"/>
          </a:xfrm>
          <a:prstGeom prst="roundRect">
            <a:avLst>
              <a:gd name="adj" fmla="val 2142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3. LITERATURE REVIEW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การศึกษางานวิจัยที่เกี่ยวข้อง และการนำมาประยุกต์ใช้ในโครงงาน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ทบทวนวรรณกรรม 5 งานวิจัยสำคัญเพื่อเป็นฐานคิดในการพัฒนาระบบ TMO (บทที่ 2)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143000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19786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ณัฐพล และคณะ (2568) : ระบบคิวร้านอาหารผ่าน Web Browser (React + Node.js/Express)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1453896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102E"/>
                </a:solidFill>
              </a:rPr>
              <a:t>นำมาใช้: สถาปัตยกรรมแบ่ง 3 ระดับ (ผู้ใช้ทั่วไป, ผู้ใช้หลัก, ผู้ดูแลระบบ) และการตัดขั้นตอนกระดาษ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1874520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92938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ปวีณา และคณะ (2569) : ระบบคิวบูรณาการเว็บและ LINE Chatbot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31520" y="2185416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102E"/>
                </a:solidFill>
              </a:rPr>
              <a:t>นำมาใช้: การจัดลำดับคิวและแจ้งเตือน Real-time เพื่อลดความแออัดและลดเวลารอคอย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8640" y="2606040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66090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สุพิพัฒน์ และคณะ (2569) : ระบบ CMS ภาควิชาคอมพิวเตอร์ ม.ศิลปากร (3-Tier &amp; RBAC)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31520" y="2916936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102E"/>
                </a:solidFill>
              </a:rPr>
              <a:t>นำมาใช้: 3-Tier Architecture และการควบคุมสิทธิ์ตามบทบาท (RBAC) ผ่าน RESTful API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39242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สุดถนอม และคณะ (2568) : ระบบคิวผู้ป่วยนอก รพ.ศรีนครินทร์ (Design Thinking + SDLC + QR)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1520" y="3648456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102E"/>
                </a:solidFill>
              </a:rPr>
              <a:t>นำมาใช้: การให้บุคคลทั่วไปและผู้ควบคุมทีมสแกน QR Code ติดตามคิวสดผ่านมือถือโดยไม่ต้องล็อกอิน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12394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กาญจนา และ ศิริพร (2569) : ลายเซ็นอิเล็กทรอนิกส์ในระบบจัดซื้อจัดจ้าง รพ.ศิริราช (SiSignDoc/PKI)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31520" y="4379976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102E"/>
                </a:solidFill>
              </a:rPr>
              <a:t>นำมาใช้: การลงลายมือชื่อดิจิทัลอัตโนมัติบนเอกสาร PDF และผลผูกพันทางกฎหมายตาม พ.ร.บ.ธุรกรรมฯ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28600"/>
            <a:ext cx="2560320" cy="256032"/>
          </a:xfrm>
          <a:prstGeom prst="roundRect">
            <a:avLst>
              <a:gd name="adj" fmla="val 2142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4. LEGAL FRAMEWORK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กรอบข้อกฎหมาย: พ.ร.บ.ว่าด้วยธุรกรรมทางอิเล็กทรอนิกส์ พ.ศ. 2544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การออกแบบระบบให้มีผลบังคับใช้ทางกฎหมายตามมาตรา 9 และมาตรา 26 (กาญจนา และ ศิริพร, 2569)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371600"/>
            <a:ext cx="365760" cy="274320"/>
          </a:xfrm>
          <a:prstGeom prst="roundRect">
            <a:avLst>
              <a:gd name="adj" fmla="val 13333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371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3000" y="1371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การพิสูจน์ตัวตน (Digital Identity) [มาตรา 9 (1)]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17373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ระบุตัวบุคคลเจ้าของลายมือชื่ออย่างชัดเจนผ่านกระบวนการยืนยันตัวตน 2FA ด้วย OTP 6 หลัก และระบบ Role-Based Access Control (RBAC)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63440" y="123444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371600"/>
            <a:ext cx="365760" cy="274320"/>
          </a:xfrm>
          <a:prstGeom prst="roundRect">
            <a:avLst>
              <a:gd name="adj" fmla="val 13333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371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57800" y="1371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การแสดงเจตนา (Intent to Sign) [มาตรา 9 (2)]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17373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อาจารย์ผู้ควบคุมทีมกดปุ่ม 'อนุมัติและลงนาม' ถือเป็นการแสดงเจตนายอมรับความถูกต้องของคะแนนสอบชุดล่าสุดอย่างเป็นทางการ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297180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3108960"/>
            <a:ext cx="365760" cy="274320"/>
          </a:xfrm>
          <a:prstGeom prst="roundRect">
            <a:avLst>
              <a:gd name="adj" fmla="val 13333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108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43000" y="3108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ความครบถ้วนของข้อมูล (Data Integrity) [มาตรา 26]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347472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แปลงข้อมูลคะแนนและลายเซ็นเป็นไฟล์ PDF ที่ไม่สามารถแก้ไขได้ หากมีการแก้ไขต้องผ่านการอนุมัติซ้ำและสร้างเอกสารฉบับใหม่แทนที่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63440" y="297180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3108960"/>
            <a:ext cx="365760" cy="274320"/>
          </a:xfrm>
          <a:prstGeom prst="roundRect">
            <a:avLst>
              <a:gd name="adj" fmla="val 13333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3108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57800" y="3108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การประทับเวลา (Trusted Timestamp) [มาตรา 26 (4)]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347472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ประทับวันและเวลามาตรฐานของเซิร์ฟเวอร์ลงบนเอกสาร PDF โดยไม่สามารถแก้ไขย้อนหลังได้ เพื่อใช้เป็นหลักฐานการทำธุรกรรม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28600"/>
            <a:ext cx="2560320" cy="256032"/>
          </a:xfrm>
          <a:prstGeom prst="roundRect">
            <a:avLst>
              <a:gd name="adj" fmla="val 2142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5. SDLC &amp; SWOT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ระเบียบวิธีวิจัยตาม SDLC 7 ขั้นตอน และการวิเคราะห์ SWOT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การประยุกต์ใช้วงจรพัฒนาระบบงาน (ธิตินนท์ และ ณัฐกร, 2566) ร่วมกับแผนภาพ SWOT จากเล่มวิจัย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384048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325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วงจรการพัฒนาระบบ 7 ขั้นตอน (SDLC)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6916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1. การกำหนดปัญหา (Problem Definition) - ศึกษาคอขวด 16 ศูนย์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31520" y="209397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2. การวิเคราะห์ระบบ (System Analysis) - จัดทำ Use Case &amp; Activity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31520" y="249631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3. การออกแบบระบบ (System Design) - ออกแบบ ER Model &amp; UI Prototype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" y="289864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4. การพัฒนาระบบ (System Development) - Next.js, NestJS, SQL Server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31520" y="330098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5. การทดสอบระบบ (System Testing) - Module, Component, Integration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31520" y="37033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6. การติดตั้งระบบ (System Implementation) - นำขึ้น Server &amp; แจกจ่าย QR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31520" y="410565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7. การบำรุงรักษา (System Maintenance) - ตรวจสอบ AuditLog ต่อเนื่อง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0" y="123444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325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แผนภาพ SWOT Analysis จากเล่มวิจัย (ภาพที่ 3-1)</a:t>
            </a:r>
            <a:endParaRPr lang="en-US" sz="1000" dirty="0"/>
          </a:p>
        </p:txBody>
      </p:sp>
      <p:pic>
        <p:nvPicPr>
          <p:cNvPr id="18" name="Image 0" descr="c:/tmo/extracted_thesis_assets/obj_296_1376x76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09160" y="1645920"/>
            <a:ext cx="374904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28600"/>
            <a:ext cx="2560320" cy="256032"/>
          </a:xfrm>
          <a:prstGeom prst="roundRect">
            <a:avLst>
              <a:gd name="adj" fmla="val 2142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6. SYSTEM SCOPE &amp; RBAC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ขอบเขตของระบบและการควบคุมการเข้าถึงตามบทบาท (RBAC)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การแบ่งหน้าที่ความรับผิดชอบอย่างรัดกุมตามทฤษฎี RBAC (สุพิพัฒน์ และคณะ, 2569)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804672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26187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102E"/>
                </a:solidFill>
              </a:rPr>
              <a:t>1. ผู้ดูแลระบบ (Administrator) - สิทธิ์ระดับสูงสุด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1517904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จัดการรอบการสอบ, เพิ่ม/แก้ไข/ลบข้อมูลศูนย์สอบ, จัดการสิทธิ์ผู้ใช้งาน, ควบคุมการเปิด-ปิดระบบให้คะแนน (CompetitionSettings), ดูแล Audit Log ทั้งหมด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2057400"/>
            <a:ext cx="804672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13055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102E"/>
                </a:solidFill>
              </a:rPr>
              <a:t>2. กรรมการตรวจ (Examiner) - สิทธิ์การประเมินผล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386584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รับคิวตรวจตามข้อสอบที่ได้รับมอบหมาย (1-5), กรอกคะแนนนักเรียน 6 คนต่อศูนย์ (0-7 คะแนน), บันทึกร่างคะแนน, ส่งคะแนนให้อาจารย์ผู้ควบคุมทีมตรวจสอบ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804672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99923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102E"/>
                </a:solidFill>
              </a:rPr>
              <a:t>3. อาจารย์ผู้ควบคุมทีม (Team Leader) - สิทธิ์การรับรองและลงนาม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3255264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ตรวจสอบคะแนนนักเรียนในศูนย์ของตนเอง, อนุมัติและลงลายมือชื่อดิจิทัล (E-Sign), ขอแก้ไขคะแนนกรณีพบข้อผิดพลาด, ส่งออกรายงานผลคะแนน PDF/Excel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804672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86791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102E"/>
                </a:solidFill>
              </a:rPr>
              <a:t>4. เจ้าหน้าที่ (Staff) &amp; สาธารณะ - สิทธิ์สนับสนุน &amp; อ่านอย่างเดียว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123944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เจ้าหน้าที่: ช่วยจัดคิวและประสานงานห้องตรวจ | บุคคลทั่วไป: สแกน QR Code ดูบอร์ดคิวรวมแบบเรียลไทม์โดยไม่ต้องล็อกอินเข้าสู่ระบบ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28600"/>
            <a:ext cx="2560320" cy="256032"/>
          </a:xfrm>
          <a:prstGeom prst="roundRect">
            <a:avLst>
              <a:gd name="adj" fmla="val 2142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7. DIALOG DIAGRAM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แผนภาพแสดงลำดับการเชื่อมโยงของจอภาพ (Dialog Diagram)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ผังการนำทางและสถาปัตยกรรมสารสนเทศของระบบ TMO จากเล่มวิจัย (ภาพที่ 3-59)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438912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3258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Dialog Diagram ผังการเชื่อมโยงหน้าจอ (จากเล่มวิจัย)</a:t>
            </a:r>
            <a:endParaRPr lang="en-US" sz="1000" dirty="0"/>
          </a:p>
        </p:txBody>
      </p:sp>
      <p:pic>
        <p:nvPicPr>
          <p:cNvPr id="9" name="Image 0" descr="c:/tmo/extracted_thesis_assets/obj_416_1256x79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45920"/>
            <a:ext cx="4114800" cy="28346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120640" y="1234440"/>
            <a:ext cx="347472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0" y="13258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เส้นทางการนำทางของผู้ใช้งาน (Navigation Flow)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303520" y="16916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• 0. Login System: ประตูทางเข้าหลัก ยืนยันตัวตนด้วย OTP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303520" y="204825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• 1. Dashboard: ศูนย์กลางกระจายคำสั่งไปยังโมดูลย่อย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303520" y="240487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• 2. Queue: หน้าจอจัดการคิวและมอนิเตอร์สถานะตรวจ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303520" y="276148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• 3. Score Entry: จอกรอกคะแนนพร้อมลายน้ำป้องกันแอบถ่าย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303520" y="311810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• 8. Approval: จอหัวหน้าทีมตรวจทานและกดยืนยัน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303520" y="34747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• 9. PDF Generation: สร้างเอกสารผลคะแนนทางการพร้อม E-Sign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303520" y="383133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• 4. Score Table: ตารางสรุปคะแนนรวมแบบเรียลไทม์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303520" y="418795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• 5-7. Settings: จัดการสิทธิ์ บัญชีผู้ใช้ และศูนย์ศึกษา 16 แห่ง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28600"/>
            <a:ext cx="2560320" cy="256032"/>
          </a:xfrm>
          <a:prstGeom prst="roundRect">
            <a:avLst>
              <a:gd name="adj" fmla="val 2142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8. FULL-STACK ARCHITECTURE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สถาปัตยกรรมเว็บแอปพลิเคชัน 3 ชั้น (3-Tier Web Architecture)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โครงสร้างเชื่อมโยงระบบ Front-end, API Gateway และ Back-end ตามภาพที่ 2-1 ในเล่มวิจัย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384048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325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TMO Web Application Architecture (ภาพที่ 2-1)</a:t>
            </a:r>
            <a:endParaRPr lang="en-US" sz="1000" dirty="0"/>
          </a:p>
        </p:txBody>
      </p:sp>
      <p:pic>
        <p:nvPicPr>
          <p:cNvPr id="9" name="Image 0" descr="c:/tmo/extracted_thesis_assets/obj_221_661x59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45920"/>
            <a:ext cx="3566160" cy="28346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572000" y="1234440"/>
            <a:ext cx="40233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09160" y="130759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102E"/>
                </a:solidFill>
              </a:rPr>
              <a:t>Presentation Tier (Front-end)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709160" y="152704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Next.js 16 (React 19) + Tailwind CSS v4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709160" y="174650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Component-based, Fast rendering, Responsive Design บนทุกอุปกรณ์ (Kantor, 2569; MDN, 2569)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572000" y="2103120"/>
            <a:ext cx="40233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09160" y="217627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102E"/>
                </a:solidFill>
              </a:rPr>
              <a:t>Application Tier (Back-end)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709160" y="239572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NestJS 11 + Node.js Engine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709160" y="261518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Modular Architecture, RESTful API, DTO Validation (class-validator), JWT Authentication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572000" y="2971800"/>
            <a:ext cx="40233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09160" y="304495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102E"/>
                </a:solidFill>
              </a:rPr>
              <a:t>Reporting &amp; Security Engine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09160" y="326440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PDFKit + ExcelJS + JOSE Cryptography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709160" y="348386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เรนเดอร์เอกสาร PDF ประทับลายเซ็น/ลายน้ำ และส่งออกไฟล์ Excel สรุปผลคะแนนแบบอัตโนมัติ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4572000" y="3840480"/>
            <a:ext cx="40233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09160" y="391363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102E"/>
                </a:solidFill>
              </a:rPr>
              <a:t>Data Tier (Database)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09160" y="413308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Microsoft SQL Server 2022 (mssql driver)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709160" y="435254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จัดเก็บตารางเชิงสัมพันธ์ตามหลัก 3NF พร้อม Transaction Control ป้องกันการบันทึกทับซ้อน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28600"/>
            <a:ext cx="2560320" cy="256032"/>
          </a:xfrm>
          <a:prstGeom prst="roundRect">
            <a:avLst>
              <a:gd name="adj" fmla="val 2142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9. REAL-TIME ENGINE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กลไกการกระจายข้อมูลสถานะแบบเรียลไทม์ (Server-Sent Events: SSE)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เหตุผลทางวิศวกรรมในการเลือกใช้ SSE แทน WebSockets เพื่อความเสถียรและประหยัดทรัพยากร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393192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25400">
            <a:solidFill>
              <a:srgbClr val="1580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371600"/>
            <a:ext cx="3566160" cy="320040"/>
          </a:xfrm>
          <a:prstGeom prst="roundRect">
            <a:avLst>
              <a:gd name="adj" fmla="val 11429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371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แนวทางที่ระบบเลือกใช้: Server-Sent Events (SSE)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17830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✔ การสื่อสารแบบทิศทางเดียว (Unidirectional Server-to-Client): เหมาะสม 100% กับการกระจายสถานะคิว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31520" y="23317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✔ ทำงานบน HTTP/1.1 และ HTTP/2 มาตรฐาน: ผ่านไฟร์วอลล์และพร็อกซีได้โดยไม่ต้องเปิดพอร์ตพิเศษ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" y="28803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✔ Reconnection อัตโนมัติ: เบราว์เซอร์มีกลไกต่อสัญญาณใหม่ทันทีหากเน็ตหลุด พร้อม Event ID ล่าสุด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31520" y="34290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✔ ประหยัด Memory &amp; CPU: ใช้ Connection แบบ Lightweight ไม่เปลือง Handshake และ Memory overhead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31520" y="39776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✔ นำไปใช้ในโค้ด: RxJS Subject ใน NestJS Broadcast สถานะคิวไปยังทุกจอภาพพร้อมกันทันที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63440" y="1234440"/>
            <a:ext cx="393192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1371600"/>
            <a:ext cx="3566160" cy="320040"/>
          </a:xfrm>
          <a:prstGeom prst="roundRect">
            <a:avLst>
              <a:gd name="adj" fmla="val 1142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371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ทางเลือกเดิม: WebSockets (Full Duplex)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46320" y="17830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✖ รองรับการส่งข้อมูลสองทาง (Bi-directional): ซึ่งเกินความจำเป็นสำหรับหน้าจอบอร์ดแสดงผล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46320" y="23317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✖ มักมีปัญหากับ Firewall / Corporate Network: ต้องการ TCP Upgrade และมักถูกบล็อกในเครือข่ายบางแห่ง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46320" y="28803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✖ ต้องจัดการ Heartbeat / Ping-Pong เอง: มีความซับซ้อนในการจัดการสถานะการหลุดของ Client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46320" y="34290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✖ ใช้ทรัพยากร Socket สูงกว่า: หากมีผู้ชมจอหลายร้อยคนจะกิน Memory ของเซิร์ฟเวอร์มากกว่า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46320" y="39776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✖ ข้อสรุป: SSE ให้ความเสถียรและทนทานกว่าสำหรับการถ่ายทอดสถานะคิวการแข่งขัน TMO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28600"/>
            <a:ext cx="2560320" cy="256032"/>
          </a:xfrm>
          <a:prstGeom prst="roundRect">
            <a:avLst>
              <a:gd name="adj" fmla="val 2142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10. FEATURE: AUTH &amp; 2FA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การพิสูจน์ตัวตนด้วย OTP และการควบคุมเซสชัน (Two-Factor Authentication)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ขั้นตอนการตรวจสอบหมายเลขโทรศัพท์และส่งรหัส OTP 6 หลัก เพื่อเข้าถึงระบบอย่างปลอดภัย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393192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325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หน้าจอเข้าสู่ระบบและยืนยันรหัส OTP (ภาพที่ 3-4, 3-5)</a:t>
            </a:r>
            <a:endParaRPr lang="en-US" sz="1000" dirty="0"/>
          </a:p>
        </p:txBody>
      </p:sp>
      <p:pic>
        <p:nvPicPr>
          <p:cNvPr id="9" name="Image 0" descr="c:/tmo/extracted_thesis_assets/obj_306_1301x62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45920"/>
            <a:ext cx="3657600" cy="1645920"/>
          </a:xfrm>
          <a:prstGeom prst="rect">
            <a:avLst/>
          </a:prstGeom>
        </p:spPr>
      </p:pic>
      <p:pic>
        <p:nvPicPr>
          <p:cNvPr id="10" name="Image 1" descr="c:/tmo/extracted_thesis_assets/obj_307_1297x621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85800" y="3337560"/>
            <a:ext cx="3657600" cy="12801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663440" y="1234440"/>
            <a:ext cx="393192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846320" y="1325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กลไกความปลอดภัยของการเข้าสู่ระบบ (Auth Architecture)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846320" y="16916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• Whitelist Verification: ตรวจสอบเบอร์โทรศัพท์กับฐานข้อมูล User หากไม่มีชื่อจะปฏิเสธการเข้าถึงทันที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4846320" y="222199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• 6-Digit OTP via SMS: ส่งรหัส OTP 6 หลักที่สร้างขึ้นแบบสุ่ม มีอายุการใช้งานจำกัด 5 นาที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4846320" y="275234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• JWT Cryptographic Tokens: เมื่อยืนยัน OTP สำเร็จ ระบบจะออก Access Token และ Refresh Token ด้วยไลบรารี jose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4846320" y="328269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• Automatic Role Assignment: กำหนดบทบาทและสิทธิ์ให้อัตโนมัติตามศูนย์และข้อสอบที่ได้รับมอบหมาย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4846320" y="381304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• Session Timeout: ตัดเซสชันอัตโนมัติเมื่อไม่มีกิจกรรม เพื่อป้องกันบุคคลอื่นเข้าใช้งานเครื่องที่ค้างไว้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28600"/>
            <a:ext cx="2560320" cy="256032"/>
          </a:xfrm>
          <a:prstGeom prst="roundRect">
            <a:avLst>
              <a:gd name="adj" fmla="val 2142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11. FEATURE: QUEUE ENGINE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ระบบจัดสรรและหมุนเวียนคิวตรวจ (Intelligent Queue Matrix Engine)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อัลกอริทึมการกระจาย 16 ศูนย์ลง 5 ข้อสอบ และการสร้างสล็อตเวลา 15 นาที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411480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325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หน้าจอ Admin จัดการคิวและสร้างตารางหมุนเวียน (ภาพที่ 3-6)</a:t>
            </a:r>
            <a:endParaRPr lang="en-US" sz="1000" dirty="0"/>
          </a:p>
        </p:txBody>
      </p:sp>
      <p:pic>
        <p:nvPicPr>
          <p:cNvPr id="9" name="Image 0" descr="c:/tmo/extracted_thesis_assets/obj_309_1300x58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45920"/>
            <a:ext cx="3840480" cy="20116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37490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• ช่องกรอกวันที่จัดตาราง, เวลาเริ่มต้น (13:30), นาทีต่อช่อง (15 นาที)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• ปุ่มเพิ่มรายการคิวแบบกำหนดเอง และปุ่มสลับลำดับคิวขึ้น-ลง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846320" y="1234440"/>
            <a:ext cx="374904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0" y="1325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หลักการทำงานของ Queue Matrix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029200" y="16916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• Conflict-Free Rotation: หมุนเวียนตารางแบบ Matrix ทำให้ไม่มีศูนย์สอบใดต้องเข้าตรวจ 2 ข้อสอบพร้อมกันในสล็อตเวลาเดียวกัน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029200" y="222199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• 15-Minute Dynamic Slot: ออกแบบตามความเร็วเฉลี่ยในการตรวจข้อสอบอัตนัยของกรรมการแต่ละข้อ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029200" y="2752344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• Queue State Transitions: คิวมี 3 สถานะ ได้แก่ WAITING (รอตรวจ), IN_PROGRESS (กำลังตรวจ), DONE (ตรวจแล้ว)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029200" y="3282696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• Queue Claiming &amp; Releasing: กรรมการสามารถกด 'รับตรวจ' เพื่อล็อกคิว และมีปุ่ม 'คืนคิว' หากติดปัญหา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029200" y="381304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• Real-time State Sync: เมื่อสถานะคิวเปลี่ยน ระบบจะยิงสัญญาณ SSE ปรับปรุงบอร์ดรวมทันที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28600"/>
            <a:ext cx="2560320" cy="256032"/>
          </a:xfrm>
          <a:prstGeom prst="roundRect">
            <a:avLst>
              <a:gd name="adj" fmla="val 2142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12. FEATURE: LIVE QUEUE BOARD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ตารางคิวรวม 16 ศูนย์ และหน้าจอแสดงผลสาธารณะ (Public Board)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การแสดงผลสถานะคิวแบบเรียลไทม์ พร้อมตราสัญลักษณ์ศูนย์ สอวน. ทั้ง 16 แห่ง และ QR Code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393192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325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ตารางคิวรวม 16 ศูนย์ x 5 ข้อ (ภาพที่ 3-10)</a:t>
            </a:r>
            <a:endParaRPr lang="en-US" sz="1000" dirty="0"/>
          </a:p>
        </p:txBody>
      </p:sp>
      <p:pic>
        <p:nvPicPr>
          <p:cNvPr id="9" name="Image 0" descr="c:/tmo/extracted_thesis_assets/obj_320_612x82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45920"/>
            <a:ext cx="3657600" cy="29260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663440" y="1234440"/>
            <a:ext cx="393192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46320" y="1325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หน้าจอ Display สำหรับฉายโปรเจกเตอร์และมือถือ</a:t>
            </a:r>
            <a:endParaRPr lang="en-US" sz="1000" dirty="0"/>
          </a:p>
        </p:txBody>
      </p:sp>
      <p:pic>
        <p:nvPicPr>
          <p:cNvPr id="12" name="Image 1" descr="c:/tmo/screenshots/display_real_render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00600" y="1645920"/>
            <a:ext cx="3657600" cy="19202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46320" y="36576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จุดเด่นของการแสดงผลสาธารณะ: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Zero-Auth Access: บุคคลทั่วไปและนักเรียนสามารถสแกน QR Code เพื่อดูคิวได้ทันทีโดยไม่ต้องมีบัญชีผู้ใช้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สีระบุสถานะชัดเจน: สีเหลือง = รอตรวจ, สีฟ้า = กำลังตรวจ, สีเขียว = ตรวจเสร็จแล้ว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• Digital Clock Synchronization: มีนาฬิกาดิจิทัลนับเวลาจริง เพื่อให้ทุกฝ่ายตรงต่อเวลา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28600"/>
            <a:ext cx="2560320" cy="256032"/>
          </a:xfrm>
          <a:prstGeom prst="roundRect">
            <a:avLst>
              <a:gd name="adj" fmla="val 2142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13. FEATURE: GRADING &amp; WATERMARK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หน้าจอกรรมการตรวจข้อสอบ และลายน้ำความปลอดภัย (Watermark)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ระบบกรอกคะแนนนักเรียน 6 คนต่อศูนย์ พร้อมเทคโนโลยี Tiled Watermark ป้องกันการแอบถ่าย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411480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325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หน้าจอบันทึกคะแนนข้อสอบ (ภาพที่ 3-25)</a:t>
            </a:r>
            <a:endParaRPr lang="en-US" sz="1000" dirty="0"/>
          </a:p>
        </p:txBody>
      </p:sp>
      <p:pic>
        <p:nvPicPr>
          <p:cNvPr id="9" name="Image 0" descr="c:/tmo/extracted_thesis_assets/obj_347_1300x61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45920"/>
            <a:ext cx="3840480" cy="20116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37490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• ช่องกรอกคะแนนนักเรียน 6 คน เรียงตามรหัสผู้เข้าแข่งขัน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• มีปุ่ม 'บันทึกร่าง' และปุ่ม 'ส่งคะแนนเพื่อรออนุมัติ'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846320" y="1234440"/>
            <a:ext cx="374904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0" y="1325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เทคโนโลยี Dynamic Tiled Watermark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029200" y="16916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• ปัญหาเดิม: ความเสี่ยงที่บุคคลภายนอกหรือผู้ตรวจจะถ่ายภาพหน้าจอคะแนนไปเผยแพร่ก่อนเวลาอันควร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029200" y="222199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• กลไกป้องกัน: เรนเดอร์ข้อความลายน้ำแบบเอียง ซ้อนทับทั่วทั้งหน้าจอด้วย CSS Canvas / SVG Overlay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029200" y="2752344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• ระบุตัวตนแบบเรียลไทม์: ลายน้ำจะสลัก 'ชื่อกรรมการ + รหัสศูนย์ + วันเวลาปัจจุบัน' ลงบนทุกจุดของหน้าจอ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029200" y="3282696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• ป้องปรามการรั่วไหล (Traceability): หากมีภาพหลุดออกไป สามารถสืบหาต้นตอของผู้ถ่ายภาพได้ทันที 100%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029200" y="381304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• ไม่รบกวนสายตา: ปรับค่า Opacity โปร่งใส 8-12% ทำให้กรรมการอ่านตัวเลขและตรวจคะแนนได้ตามปกติ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28600"/>
            <a:ext cx="2560320" cy="256032"/>
          </a:xfrm>
          <a:prstGeom prst="roundRect">
            <a:avLst>
              <a:gd name="adj" fmla="val 2142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14. FEATURE: E-SIGNATURE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กระบวนการอนุมัติและลงนามดิจิทัลตามกฎหมาย (Digital Signature)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การตรวจสอบผลคะแนนโดยอาจารย์ผู้ควบคุมทีม และการประทับลายมือชื่อดิจิทัลอัตโนมัติบน PDF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411480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325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หน้าจออนุมัติคะแนนและลงนาม (ภาพที่ 3-26)</a:t>
            </a:r>
            <a:endParaRPr lang="en-US" sz="1000" dirty="0"/>
          </a:p>
        </p:txBody>
      </p:sp>
      <p:pic>
        <p:nvPicPr>
          <p:cNvPr id="9" name="Image 0" descr="c:/tmo/extracted_thesis_assets/obj_349_1300x58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45920"/>
            <a:ext cx="3840480" cy="20116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37490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• แสดงรายการคะแนนของนักเรียนทั้ง 6 คน เพื่อให้อาจารย์ตรวจทาน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• ปุ่ม 'ขอแก้ไขคะแนน' และปุ่มสีเขียว 'อนุมัติและลงนาม'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846320" y="1234440"/>
            <a:ext cx="374904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0" y="1325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กระบวนการสร้างเอกสารรับรองคะแนน PDF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029200" y="16916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1. Intent to Sign: เมื่ออาจารย์ผู้ควบคุมทีมตรวจสอบคะแนนแล้วกด 'อนุมัติและลงนาม'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029200" y="222199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2. Signature Merging: ระบบดึงภาพลายเซ็นจริงของกรรมการผู้ตรวจและหัวหน้าทีมที่อัปโหลดไว้มาประทับอัตโนมัติ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029200" y="2752344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3. PDFKit Rendering: สร้างเอกสาร PDF ทางการตามฟอร์แมตเอกสาร สอวน. พร้อมประทับตรา มจพ.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029200" y="3282696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4. Server-Side Timestamping: ฝังวันเวลาและรหัส Hash กำกับเอกสาร ป้องกันการแก้ไขย้อนหลัง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029200" y="381304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5. Instant Scoreboard Update: อัปเดตตารางสรุปคะแนนรวม และปลดล็อกให้ศูนย์เข้าสู่คิวข้อถัดไป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28600"/>
            <a:ext cx="2560320" cy="256032"/>
          </a:xfrm>
          <a:prstGeom prst="roundRect">
            <a:avLst>
              <a:gd name="adj" fmla="val 2142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15. FEATURE: SCORE EDIT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กระบวนการขอแก้ไขคะแนน และการอนุมัติซ้ำ (Score Edit Workflow)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ขั้นตอนการขอแก้ไขคะแนนเมื่อพบข้อผิดพลาด พร้อมระบบ Two-Tier Approval เพื่อความโปร่งใส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393192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325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ขั้นตอนการขอแก้ไขคะแนน (Activity Diagram 3-28)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16916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1. การยื่นคำขอ: หากกรรมการหรืออาจารย์พบข้อผิดพลาด จะกดปุ่ม 'ขอแก้ไขคะแนน' พร้อมระบุเหตุผล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31520" y="222199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2. จัดเก็บคะแนนเดิม: ตาราง ScoreEditRequest จะบันทึก OldValue, NewValue, Reason และผู้ขอยื่นเรื่อง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31520" y="2752344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3. การพิจารณาอนุมัติซ้ำ: อาจารย์ผู้ควบคุมทีมและกรรมการต้องร่วมกันพิจารณาความสมเหตุสมผล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" y="3282696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4. การสร้าง PDF ฉบับใหม่: เมื่ออนุมัติ ระบบจะสร้างเอกสาร PDF ฉบับปรับปรุงใหม่พร้อม Timestamp ล่าสุด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31520" y="381304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5. บันทึก Audit Log อัตโนมัติ: บันทึกว่าใครเป็นผู้อนุมัติการแก้ไข เพื่อความโปร่งใส 100%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63440" y="1234440"/>
            <a:ext cx="393192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325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ตารางแสดงคะแนนภายหลังการแก้ไข (ภาพที่ 3-33)</a:t>
            </a:r>
            <a:endParaRPr lang="en-US" sz="1000" dirty="0"/>
          </a:p>
        </p:txBody>
      </p:sp>
      <p:pic>
        <p:nvPicPr>
          <p:cNvPr id="16" name="Image 0" descr="c:/tmo/extracted_thesis_assets/obj_361_1300x58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00600" y="1645920"/>
            <a:ext cx="3657600" cy="20116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846320" y="37490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• แสดงคะแนนล่าสุดที่ได้รับการอนุมัติซ้ำอย่างถูกต้อง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• สามารถกดปุ่ม Export เพื่อดาวน์โหลดไฟล์ Excel หรือ PDF ได้ทันที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28600"/>
            <a:ext cx="2560320" cy="256032"/>
          </a:xfrm>
          <a:prstGeom prst="roundRect">
            <a:avLst>
              <a:gd name="adj" fmla="val 2142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16. FEATURE: AUDIT LOGS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ระบบบันทึกประวัติการกระทำย้อนหลัง (Comprehensive Audit Trail)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ความโปร่งใสระดับองค์กร บันทึกทุกคำขอ ทุกการเปลี่ยนสถานะ และทุกคะแนนที่ถูกแก้ไขลงฐานข้อมูล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371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</a:rPr>
              <a:t>ตาราง AuditLog เชิงลึก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6459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Schema: AuditLog (ตารางที่ 3-10)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31520" y="1892808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เก็บ AuditLogId (UUID), UserId, Action (CREATE, UPDATE, DELETE), EntityType (Score, QueueItem, User), EntityId, OldValue, NewValue, CreatedAt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371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</a:rPr>
              <a:t>Immutable Record (ห้ามแก้ไข/ลบ)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0" y="16459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Data Integrity Constraint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846320" y="1892808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สิทธิ์การเข้าถึง AuditLog เป็นแบบ Read-only แม้แต่ผู้ดูแลระบบก็ไม่สามารถแก้ไขหรือลบประวัติย้อนหลังได้ เพื่อใช้เป็นหลักฐานทางกฎหมาย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8640" y="297180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108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</a:rPr>
              <a:t>เก็บบันทึกภาพก่อนและหลังแก้ไข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1520" y="33832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JSON Delta Tracking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31520" y="3630168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บันทึกข้อมูลแบบ Snapshots ทั้งค่าคะแนนเดิม (OldValue) และค่าคะแนนใหม่ (NewValue) ทำให้สามารถเปรียบเทียบความแตกต่างได้อย่างละเอียด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108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</a:rPr>
              <a:t>Admin Audit Viewer Interface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46320" y="33832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หน้าจอมอนิเตอร์ของแอดมิน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46320" y="3630168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แอดมินสามารถเปิดดูไทม์ไลน์การทำงานของกรรมการทุกคนในระบบ กรองตามศูนย์สอบ หรือตามหมายเลขข้อสอบเพื่อตรวจสอบความผิดปกติได้ทันที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28600"/>
            <a:ext cx="2560320" cy="256032"/>
          </a:xfrm>
          <a:prstGeom prst="roundRect">
            <a:avLst>
              <a:gd name="adj" fmla="val 2142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17. FEATURE: ADMIN MGMT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การบริหารจัดการข้อมูลศูนย์ สอวน. 16 แห่ง และสิทธิ์ผู้ใช้งาน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หน้าจอควบคุมระบบหลังบ้านสำหรับผู้ดูแลระบบในการจัดการศูนย์สอบและอัปโหลดลายเซ็นดิจิทัล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393192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325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หน้าจอจัดการสิทธิ์และลายเซ็น (ภาพที่ 3-41)</a:t>
            </a:r>
            <a:endParaRPr lang="en-US" sz="1000" dirty="0"/>
          </a:p>
        </p:txBody>
      </p:sp>
      <p:pic>
        <p:nvPicPr>
          <p:cNvPr id="9" name="Image 0" descr="c:/tmo/extracted_thesis_assets/obj_377_1300x61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45920"/>
            <a:ext cx="3657600" cy="19202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36576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• แสดงรายชื่อกรรมการและผู้ใช้ พร้อมปุ่ม 'อัปโหลดลายเซ็น'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• กำหนดสิทธิ์รายบุคคลตามข้อสอบที่รับผิดชอบ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663440" y="1234440"/>
            <a:ext cx="393192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1325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หน้าจอจัดการข้อมูลศูนย์ศึกษา 16 แห่ง (ภาพที่ 3-50)</a:t>
            </a:r>
            <a:endParaRPr lang="en-US" sz="1000" dirty="0"/>
          </a:p>
        </p:txBody>
      </p:sp>
      <p:pic>
        <p:nvPicPr>
          <p:cNvPr id="13" name="Image 1" descr="c:/tmo/extracted_thesis_assets/obj_394_1300x616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00600" y="1645920"/>
            <a:ext cx="3657600" cy="19202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46320" y="36576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• รองรับการเพิ่ม แก้ไข และลบข้อมูลศูนย์ สอวน. ทั้ง 16 แห่ง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• กำหนดรหัสโรงเรียน (Code) เช่น CMU, BUU, KMUTNB สำหรับจับคู่ระบบคิว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28600"/>
            <a:ext cx="2560320" cy="256032"/>
          </a:xfrm>
          <a:prstGeom prst="roundRect">
            <a:avLst>
              <a:gd name="adj" fmla="val 2142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18. DATA MODEL: CONCEPTUAL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แบบจำลองความสัมพันธ์ข้อมูลเชิงแนวคิด (Conceptual ER Diagram)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แผนภาพความสัมพันธ์เอนทิตี แอตทริบิวต์ และคาร์ดินัลลิตี้จากบทที่ 3 (ภาพที่ 3-57)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804672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0" descr="c:/tmo/extracted_thesis_assets/obj_405_1376x82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371600"/>
            <a:ext cx="7680960" cy="2560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402336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องค์ประกอบสำคัญของแบบจำลอง ER: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• Strong Entity: School, User, QueueItem, Student | Weak Entity: Score, ScoreEditRequest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• ความสัมพันธ์และ Cardinality: School-User (1:M), School-Student (1:M), QueueItem-Score (1:M), User-Score (Judges 1:M)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28600"/>
            <a:ext cx="2560320" cy="256032"/>
          </a:xfrm>
          <a:prstGeom prst="roundRect">
            <a:avLst>
              <a:gd name="adj" fmla="val 2142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19. DATA MODEL: RELATIONAL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โครงสร้างฐานข้อมูลเชิงสัมพันธ์และพจนานุกรมข้อมูล (Relational Schema)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แผนภาพความสัมพันธ์ 9 ตารางหลักใน Microsoft SQL Server จากบทที่ 3 (ภาพที่ 3-58)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374904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325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Relational Schema (ภาพที่ 3-58)</a:t>
            </a:r>
            <a:endParaRPr lang="en-US" sz="1000" dirty="0"/>
          </a:p>
        </p:txBody>
      </p:sp>
      <p:pic>
        <p:nvPicPr>
          <p:cNvPr id="9" name="Image 0" descr="c:/tmo/extracted_thesis_assets/obj_407_421x78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45920"/>
            <a:ext cx="3474720" cy="29260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480560" y="1234440"/>
            <a:ext cx="411480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1325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สรุป 9 ตารางสำคัญตามหลัก Third Normal Form (3NF)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663440" y="16459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1. User: UserId (PK), Username, PasswordHash, DisplayName, Role, SchoolId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663440" y="197510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2. School: SchoolId (PK), Name, Code, CreatedAt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663440" y="230428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3. CommitteeAssignment: CommitteeAssignmentId (PK), UserId, ProblemNumber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663440" y="263347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4. QueueItem: QueueItemId (PK), SchoolId, ProblemNumber, Status, Position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663440" y="296265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5. Score: ScoreId (PK), QueueItemId, JudgeId, Value, StudentId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663440" y="32918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6. Student: StudentId (PK), StudentCode, SeqNo, Name, SchoolId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663440" y="362102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7. ScoreEditRequest: ScoreEditRequestId (PK), ScoreId, RequestedBy, Reason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663440" y="395020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8. CompetitionSettings: CompetitionSettingsId (PK), ScoringLocked, LockedBy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663440" y="427939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9. AuditLog: AuditLogId (PK), UserId, Action, EntityType, OldValue, NewValue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28600"/>
            <a:ext cx="2560320" cy="256032"/>
          </a:xfrm>
          <a:prstGeom prst="roundRect">
            <a:avLst>
              <a:gd name="adj" fmla="val 2142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20. SYSTEM TESTING &amp; QA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กลยุทธ์การทดสอบระบบ 3 ระดับ (Testing Strategy &amp; QA)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การประกันคุณภาพระบบก่อนการใช้งานจริงตามระเบียบวิธีวิจัยในบทที่ 3 (หัวข้อ 3.5)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80467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188720"/>
            <a:ext cx="91440" cy="10241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2801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ระดับที่ 1: การทดสอบระดับโมดูล (Module Test) - ทดสอบการทำงานของฟังก์ชันย่อยเดี่ยวๆ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1572768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• ทดสอบระบบสร้างและส่ง OTP 6 หลัก และการหมดอายุใน 5 นาที</a:t>
            </a:r>
            <a:endParaRPr lang="en-US" sz="8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• ทดสอบอัลกอริทึมคำนวณคิวหมุนเวียน 15 นาทีของ Queue Matrix</a:t>
            </a:r>
            <a:endParaRPr lang="en-US" sz="8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• ทดสอบการสร้างไฟล์ PDF ทางการด้วย PDFKit และการประทับลายเซ็น/ลายน้ำ</a:t>
            </a:r>
            <a:endParaRPr lang="en-US" sz="8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• ทดสอบ Unit Tests ฝั่ง Backend: 33 Test Suites (271 Tests ผ่านทั้งหมด 100%)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8640" y="2331720"/>
            <a:ext cx="80467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331720"/>
            <a:ext cx="91440" cy="102412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4231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ระดับที่ 2: การทดสอบระดับคอมโพเนนต์ (Component Test) - ทดสอบการเชื่อมโยงข้อมูลระหว่าง Front-end, Back-end และ Database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2715768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• ทดสอบการรับส่งข้อมูลผ่าน RESTful API และการแมปปิ้ง DTO Validation</a:t>
            </a:r>
            <a:endParaRPr lang="en-US" sz="8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• ทดสอบการกระจายสัญญาณ Real-time ผ่าน Server-Sent Events (SSE)</a:t>
            </a:r>
            <a:endParaRPr lang="en-US" sz="8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• ทดสอบกระบวนการบันทึกคะแนน ส่งตรวจทาน และการลงนาม E-Signature</a:t>
            </a:r>
            <a:endParaRPr lang="en-US" sz="8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• ทดสอบ Frontend Component Tests: 14 Test Files (136 Tests ผ่านทั้งหมด 100%)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80467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474720"/>
            <a:ext cx="91440" cy="102412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5661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ระดับที่ 3: การทดสอบเงื่อนไขข้อยกเว้น (Exception &amp; Integration Test) - ทดสอบกรณีเกิดข้อผิดพลาดและการควบคุมความปลอดภัย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2960" y="3858768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• ทดสอบการพยายามข้ามสิทธิ์ของผู้ใช้งาน (RBAC Privilege Escalation Testing)</a:t>
            </a:r>
            <a:endParaRPr lang="en-US" sz="8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• ทดสอบกรณีอาจารย์ผู้ควบคุมทีมปฏิเสธการอนุมัติคะแนน (Reject Flow)</a:t>
            </a:r>
            <a:endParaRPr lang="en-US" sz="8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• ทดสอบการป้อนคะแนนเกินเกณฑ์ (เช่น กรอกคะแนนติดลบหรือเกิน 7 คะแนน)</a:t>
            </a:r>
            <a:endParaRPr lang="en-US" sz="8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64748B"/>
                </a:solidFill>
              </a:rPr>
              <a:t>• ทดสอบการรองรับการเชื่อมต่อพร้อมกันของผู้ใช้งานทั้ง 16 ศูนย์สอบ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2560320" cy="320040"/>
          </a:xfrm>
          <a:prstGeom prst="roundRect">
            <a:avLst>
              <a:gd name="adj" fmla="val 22857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731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คำถามและข้อเสนอแนะ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Questions &amp; Answers (Q&amp;A)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ขอขอบพระคุณคณะกรรมการทุกท่านที่ให้เกียรติรับฟังการนำเสนอโครงงานพิเศษ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คณะผู้จัดทำยินดีรับฟังทุกข้อเสนอแนะเพื่อนำไปพัฒนาต่อยอดระบบให้สมบูรณ์ยิ่งขึ้นครับ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768096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71800"/>
            <a:ext cx="7680960" cy="164592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10896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1F5F9"/>
                </a:solidFill>
              </a:rPr>
              <a:t>ข้อมูลติดต่อและภาควิชา: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1F5F9"/>
                </a:solidFill>
              </a:rPr>
              <a:t>• คณะผู้จัดทำ: นายทินณภัทร ปั้นคง, นายวสุศิลป์ ลี้นิธิเจริญกิจ, นางสาวอิสริยาภรณ์ มงคลิก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1F5F9"/>
                </a:solidFill>
              </a:rPr>
              <a:t>• อาจารย์ที่ปรึกษา: อาจารย์ ดร.ชัยยศ กำธรเจริญ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1F5F9"/>
                </a:solidFill>
              </a:rPr>
              <a:t>• สาขาวิชาคณิตศาสตร์เชิงวิทยาการคอมพิวเตอร์ ภาควิชาคณิตศาสตร์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F1F5F9"/>
                </a:solidFill>
              </a:rPr>
              <a:t>  คณะวิทยาศาสตร์ประยุกต์ มหาวิทยาลัยเทคโนโลยีพระจอมเกล้าพระนครเหนือ (KMUTNB)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2026-10-03T16:33:22Z</dcterms:created>
  <dcterms:modified xsi:type="dcterms:W3CDTF">2026-10-03T16:33:22Z</dcterms:modified>
</cp:coreProperties>
</file>